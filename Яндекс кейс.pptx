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media/image1.jpeg" ContentType="image/jpeg"/>
  <Override PartName="/ppt/media/image2.jpeg" ContentType="image/jpeg"/>
  <Override PartName="/ppt/media/image3.jpeg" ContentType="image/jpeg"/>
  <Override PartName="/ppt/media/image5.png" ContentType="image/png"/>
  <Override PartName="/ppt/media/image4.png" ContentType="image/png"/>
  <Override PartName="/ppt/media/image6.png" ContentType="image/png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6720" cy="114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6720" cy="4523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084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260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084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2FAA23C-A616-461B-8E37-CDFAE5681F9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6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4520" cy="584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7040" cy="584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084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260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084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F26D4A7-088D-4DF8-8FBF-E90E5B528AA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6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6720" cy="114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6720" cy="4523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084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260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084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9C30784-16FC-468F-A90C-05FBC1162BE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6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69520" cy="135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ru-RU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69520" cy="1497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084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260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084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11DE68A-B535-42F1-9D90-9960C2E143C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6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6720" cy="114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5600" cy="4523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5600" cy="4523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084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260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6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084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2596BD1-A50A-4AE0-BD64-A4DA1FF40C2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6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6720" cy="114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7400" cy="63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7400" cy="394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38840" cy="63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38840" cy="394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084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7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260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8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084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A4E6D3F-8733-4149-8888-3505180CDCF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6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6720" cy="114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084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260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084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5311479-D236-4739-A312-59D677A6DFE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6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6720" cy="397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084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260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084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BFAB65E-A0BF-445F-9435-AB983417D97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672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6720" cy="397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5280" cy="1159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08760" cy="585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5280" cy="468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084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260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6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084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729C5A3-0D64-4F1C-B99B-19FB3142A2E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3520" cy="56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3520" cy="4111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3520" cy="80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084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260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084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221835A-7050-4D7F-9015-E37B25F709D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69520" cy="1467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084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260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084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0445ECA-76A0-4A02-9302-73B9A2FD047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6720" cy="397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6720" cy="114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400" strike="noStrike" u="none">
                <a:solidFill>
                  <a:srgbClr val="111827"/>
                </a:solidFill>
                <a:effectLst/>
                <a:uFillTx/>
                <a:latin typeface="Calibri"/>
              </a:rPr>
              <a:t>Цели проекта</a:t>
            </a:r>
            <a:endParaRPr b="0" lang="ru-RU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720000" y="875520"/>
            <a:ext cx="8226720" cy="4523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ru-RU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1f2937"/>
                </a:solidFill>
                <a:effectLst/>
                <a:uFillTx/>
                <a:latin typeface="Calibri"/>
              </a:rPr>
              <a:t>Создание структуры данных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600" strike="noStrike" u="none">
                <a:solidFill>
                  <a:srgbClr val="1f2937"/>
                </a:solidFill>
                <a:effectLst/>
                <a:uFillTx/>
                <a:latin typeface="Calibri"/>
              </a:rPr>
              <a:t>Построение графа</a:t>
            </a:r>
            <a:endParaRPr b="0" lang="ru-RU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600" strike="noStrike" u="none">
                <a:solidFill>
                  <a:srgbClr val="1f2937"/>
                </a:solidFill>
                <a:effectLst/>
                <a:uFillTx/>
                <a:latin typeface="Calibri"/>
              </a:rPr>
              <a:t>Анализ связей актёров и фильмов</a:t>
            </a:r>
            <a:endParaRPr b="0" lang="ru-RU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600" strike="noStrike" u="none">
                <a:solidFill>
                  <a:srgbClr val="1f2937"/>
                </a:solidFill>
                <a:effectLst/>
                <a:uFillTx/>
                <a:latin typeface="Calibri"/>
              </a:rPr>
              <a:t>Поиск ключевых актёров</a:t>
            </a:r>
            <a:endParaRPr b="0" lang="ru-RU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6720" cy="114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Кино-граф: актёры, фильмы и связи</a:t>
            </a:r>
            <a:endParaRPr b="0" lang="ru-RU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360000" y="1260000"/>
            <a:ext cx="8226720" cy="4523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Команда 22</a:t>
            </a:r>
            <a:endParaRPr b="0" lang="ru-RU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2000–2009 · Комедия · США</a:t>
            </a:r>
            <a:endParaRPr b="0" lang="ru-RU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6720" cy="114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400" strike="noStrike" u="none">
                <a:solidFill>
                  <a:srgbClr val="111827"/>
                </a:solidFill>
                <a:effectLst/>
                <a:uFillTx/>
                <a:latin typeface="Calibri"/>
              </a:rPr>
              <a:t>Источник данных</a:t>
            </a:r>
            <a:endParaRPr b="0" lang="ru-RU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6720" cy="4523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600" strike="noStrike" u="none">
                <a:solidFill>
                  <a:srgbClr val="1f2937"/>
                </a:solidFill>
                <a:effectLst/>
                <a:uFillTx/>
                <a:latin typeface="Calibri"/>
              </a:rPr>
              <a:t>IMDB Top 1000 (CSV): https://www.kaggle.com/datasets/harshitshankhdhar/imdb-dataset-of-top-1000-movies-and-tv-shows</a:t>
            </a:r>
            <a:endParaRPr b="0" lang="ru-RU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600" strike="noStrike" u="none">
                <a:solidFill>
                  <a:srgbClr val="1f2937"/>
                </a:solidFill>
                <a:effectLst/>
                <a:uFillTx/>
                <a:latin typeface="Calibri"/>
              </a:rPr>
              <a:t>Поля: фильм, год, жанр, рейтинг, актёры.</a:t>
            </a:r>
            <a:endParaRPr b="0" lang="ru-RU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7" name="" descr=""/>
          <p:cNvPicPr/>
          <p:nvPr/>
        </p:nvPicPr>
        <p:blipFill>
          <a:blip r:embed="rId2"/>
          <a:stretch/>
        </p:blipFill>
        <p:spPr>
          <a:xfrm>
            <a:off x="900000" y="3369240"/>
            <a:ext cx="2750400" cy="2750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6720" cy="114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400" strike="noStrike" u="none">
                <a:solidFill>
                  <a:srgbClr val="fff5ce"/>
                </a:solidFill>
                <a:effectLst/>
                <a:uFillTx/>
                <a:latin typeface="Calibri"/>
              </a:rPr>
              <a:t>Структуры данных</a:t>
            </a:r>
            <a:endParaRPr b="0" lang="ru-RU" sz="3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9" name="" descr=""/>
          <p:cNvPicPr/>
          <p:nvPr/>
        </p:nvPicPr>
        <p:blipFill>
          <a:blip r:embed="rId2"/>
          <a:stretch/>
        </p:blipFill>
        <p:spPr>
          <a:xfrm>
            <a:off x="587880" y="1415160"/>
            <a:ext cx="7871760" cy="4530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6720" cy="114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400" strike="noStrike" u="none">
                <a:solidFill>
                  <a:srgbClr val="fff5ce"/>
                </a:solidFill>
                <a:effectLst/>
                <a:uFillTx/>
                <a:latin typeface="Calibri"/>
              </a:rPr>
              <a:t>Визуализация графа</a:t>
            </a:r>
            <a:endParaRPr b="0" lang="ru-RU" sz="3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457200" y="1260000"/>
            <a:ext cx="80013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800" strike="noStrike" u="none">
                <a:solidFill>
                  <a:srgbClr val="fff5ce"/>
                </a:solidFill>
                <a:effectLst/>
                <a:uFillTx/>
                <a:latin typeface="Arial"/>
                <a:ea typeface="Microsoft YaHei"/>
              </a:rPr>
              <a:t>Актеры на графе выделены</a:t>
            </a:r>
            <a:r>
              <a:rPr b="0" lang="ru-RU" sz="1800" strike="noStrike" u="none">
                <a:solidFill>
                  <a:srgbClr val="6b5e9b"/>
                </a:solidFill>
                <a:effectLst/>
                <a:uFillTx/>
                <a:latin typeface="Arial"/>
                <a:ea typeface="Microsoft YaHei"/>
              </a:rPr>
              <a:t> </a:t>
            </a:r>
            <a:r>
              <a:rPr b="0" lang="ru-RU" sz="1800" strike="noStrike" u="none">
                <a:solidFill>
                  <a:srgbClr val="2a6099"/>
                </a:solidFill>
                <a:effectLst/>
                <a:uFillTx/>
                <a:latin typeface="Arial"/>
                <a:ea typeface="Microsoft YaHei"/>
              </a:rPr>
              <a:t>синим, </a:t>
            </a:r>
            <a:r>
              <a:rPr b="0" lang="ru-RU" sz="1800" strike="noStrike" u="none">
                <a:solidFill>
                  <a:srgbClr val="ff0000"/>
                </a:solidFill>
                <a:effectLst/>
                <a:uFillTx/>
                <a:latin typeface="Arial"/>
                <a:ea typeface="Microsoft YaHei"/>
              </a:rPr>
              <a:t>красным</a:t>
            </a:r>
            <a:r>
              <a:rPr b="0" lang="ru-RU" sz="1800" strike="noStrike" u="none">
                <a:solidFill>
                  <a:srgbClr val="fff5ce"/>
                </a:solidFill>
                <a:effectLst/>
                <a:uFillTx/>
                <a:latin typeface="Arial"/>
                <a:ea typeface="Microsoft YaHei"/>
              </a:rPr>
              <a:t> комедии</a:t>
            </a:r>
            <a:r>
              <a:rPr b="0" lang="ru-RU" sz="1800" strike="noStrike" u="none">
                <a:solidFill>
                  <a:srgbClr val="6b5e9b"/>
                </a:solidFill>
                <a:effectLst/>
                <a:uFillTx/>
                <a:latin typeface="Arial"/>
                <a:ea typeface="Microsoft YaHei"/>
              </a:rPr>
              <a:t>. 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trike="noStrike" u="none">
                <a:solidFill>
                  <a:srgbClr val="fff5ce"/>
                </a:solidFill>
                <a:effectLst/>
                <a:uFillTx/>
                <a:latin typeface="Arial"/>
                <a:ea typeface="Microsoft YaHei"/>
              </a:rPr>
              <a:t>Граф делится на 8 независимых кластеров.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2" name="" descr=""/>
          <p:cNvPicPr/>
          <p:nvPr/>
        </p:nvPicPr>
        <p:blipFill>
          <a:blip r:embed="rId2"/>
          <a:stretch/>
        </p:blipFill>
        <p:spPr>
          <a:xfrm>
            <a:off x="540000" y="1991160"/>
            <a:ext cx="8099640" cy="4488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180000"/>
            <a:ext cx="8226720" cy="114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600" strike="noStrike" u="none">
                <a:solidFill>
                  <a:srgbClr val="fff5ce"/>
                </a:solidFill>
                <a:effectLst/>
                <a:uFillTx/>
                <a:latin typeface="Arial"/>
              </a:rPr>
              <a:t>Топ — актеры(по числу фильмов)</a:t>
            </a:r>
            <a:endParaRPr b="0" lang="ru-RU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900000" y="1440000"/>
            <a:ext cx="75585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5" name="" descr=""/>
          <p:cNvPicPr/>
          <p:nvPr/>
        </p:nvPicPr>
        <p:blipFill>
          <a:blip r:embed="rId2"/>
          <a:stretch/>
        </p:blipFill>
        <p:spPr>
          <a:xfrm>
            <a:off x="221040" y="1630440"/>
            <a:ext cx="8778600" cy="4669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" name=""/>
          <p:cNvSpPr/>
          <p:nvPr/>
        </p:nvSpPr>
        <p:spPr>
          <a:xfrm>
            <a:off x="540000" y="1163880"/>
            <a:ext cx="5399640" cy="63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2200" strike="noStrike" u="none">
                <a:solidFill>
                  <a:srgbClr val="fff5ce"/>
                </a:solidFill>
                <a:effectLst/>
                <a:uFillTx/>
                <a:latin typeface="Arial"/>
              </a:rPr>
              <a:t>Роберт  Де Ниро снялся в 17 фильмах</a:t>
            </a:r>
            <a:endParaRPr b="0" lang="ru-RU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238</TotalTime>
  <Application>LibreOffice/25.2.7.2$Windows_X86_64 LibreOffice_project/5cbfd1ab6520636bb5f7b99185aa69bd7456825d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ru-RU</dc:language>
  <cp:lastModifiedBy/>
  <dcterms:modified xsi:type="dcterms:W3CDTF">2026-01-15T14:07:35Z</dcterms:modified>
  <cp:revision>10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