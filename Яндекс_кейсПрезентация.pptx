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media/image1.jpeg" ContentType="image/jpeg"/>
  <Override PartName="/ppt/media/image2.png" ContentType="image/png"/>
  <Override PartName="/ppt/media/image3.jpeg" ContentType="image/jpeg"/>
  <Override PartName="/ppt/media/image5.png" ContentType="image/png"/>
  <Override PartName="/ppt/media/image4.png" ContentType="image/png"/>
  <Override PartName="/ppt/media/image6.jpeg" ContentType="image/jpeg"/>
  <Override PartName="/ppt/media/image7.png" ContentType="image/png"/>
  <Override PartName="/ppt/media/image8.png" ContentType="image/png"/>
  <Override PartName="/ppt/media/image9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0907713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45400" y="274680"/>
            <a:ext cx="9812880" cy="113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45400" y="1535040"/>
            <a:ext cx="4815360" cy="63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45400" y="2174760"/>
            <a:ext cx="4815360" cy="39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541120" y="1535040"/>
            <a:ext cx="4817160" cy="63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541120" y="2174760"/>
            <a:ext cx="4817160" cy="39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dt" idx="1"/>
          </p:nvPr>
        </p:nvSpPr>
        <p:spPr>
          <a:xfrm>
            <a:off x="54540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ftr" idx="2"/>
          </p:nvPr>
        </p:nvSpPr>
        <p:spPr>
          <a:xfrm>
            <a:off x="3726720" y="6356520"/>
            <a:ext cx="3449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sldNum" idx="3"/>
          </p:nvPr>
        </p:nvSpPr>
        <p:spPr>
          <a:xfrm>
            <a:off x="781704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0318DA9-C0E0-4A66-A559-E4CBD61BDFD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45400" y="274680"/>
            <a:ext cx="9812880" cy="113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54540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726720" y="6356520"/>
            <a:ext cx="3449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781704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2E2189C-602D-4ABA-A9A6-DE6613A26D3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545400" y="1604520"/>
            <a:ext cx="98128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dt" idx="7"/>
          </p:nvPr>
        </p:nvSpPr>
        <p:spPr>
          <a:xfrm>
            <a:off x="54540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ftr" idx="8"/>
          </p:nvPr>
        </p:nvSpPr>
        <p:spPr>
          <a:xfrm>
            <a:off x="3726720" y="6356520"/>
            <a:ext cx="3449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9"/>
          </p:nvPr>
        </p:nvSpPr>
        <p:spPr>
          <a:xfrm>
            <a:off x="781704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92043FF-AA45-4CC4-B9F0-D6B7CB0B9F3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title"/>
          </p:nvPr>
        </p:nvSpPr>
        <p:spPr>
          <a:xfrm>
            <a:off x="545040" y="273600"/>
            <a:ext cx="981288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545400" y="1604520"/>
            <a:ext cx="98128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45400" y="272880"/>
            <a:ext cx="3584160" cy="115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264560" y="272880"/>
            <a:ext cx="6093360" cy="58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45400" y="1434960"/>
            <a:ext cx="3584160" cy="468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0"/>
          </p:nvPr>
        </p:nvSpPr>
        <p:spPr>
          <a:xfrm>
            <a:off x="54540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11"/>
          </p:nvPr>
        </p:nvSpPr>
        <p:spPr>
          <a:xfrm>
            <a:off x="3726720" y="6356520"/>
            <a:ext cx="3449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12"/>
          </p:nvPr>
        </p:nvSpPr>
        <p:spPr>
          <a:xfrm>
            <a:off x="781704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00440AB-1C2F-4388-9D89-E757D4E87BE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138040" y="4800600"/>
            <a:ext cx="6540480" cy="56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2138040" y="612720"/>
            <a:ext cx="6540480" cy="411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2138040" y="5367240"/>
            <a:ext cx="6540480" cy="80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3"/>
          </p:nvPr>
        </p:nvSpPr>
        <p:spPr>
          <a:xfrm>
            <a:off x="54540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4"/>
          </p:nvPr>
        </p:nvSpPr>
        <p:spPr>
          <a:xfrm>
            <a:off x="3726720" y="6356520"/>
            <a:ext cx="3449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5"/>
          </p:nvPr>
        </p:nvSpPr>
        <p:spPr>
          <a:xfrm>
            <a:off x="781704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3897ED8-F143-4984-98F0-88A03D4A71D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17920" y="2130480"/>
            <a:ext cx="9267480" cy="14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dt" idx="16"/>
          </p:nvPr>
        </p:nvSpPr>
        <p:spPr>
          <a:xfrm>
            <a:off x="54540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17"/>
          </p:nvPr>
        </p:nvSpPr>
        <p:spPr>
          <a:xfrm>
            <a:off x="3726720" y="6356520"/>
            <a:ext cx="3449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8"/>
          </p:nvPr>
        </p:nvSpPr>
        <p:spPr>
          <a:xfrm>
            <a:off x="781704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2A24B06-97B1-4A6E-8D13-C0291B910E5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545400" y="1604520"/>
            <a:ext cx="981288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45400" y="274680"/>
            <a:ext cx="9812880" cy="113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545400" y="1600200"/>
            <a:ext cx="9812880" cy="452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19"/>
          </p:nvPr>
        </p:nvSpPr>
        <p:spPr>
          <a:xfrm>
            <a:off x="54540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0"/>
          </p:nvPr>
        </p:nvSpPr>
        <p:spPr>
          <a:xfrm>
            <a:off x="3726720" y="6356520"/>
            <a:ext cx="3449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21"/>
          </p:nvPr>
        </p:nvSpPr>
        <p:spPr>
          <a:xfrm>
            <a:off x="781704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0A30DC6-3B9E-42A3-B135-CA8C674B106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908120" y="274680"/>
            <a:ext cx="2450160" cy="584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45400" y="274680"/>
            <a:ext cx="7176960" cy="584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2"/>
          </p:nvPr>
        </p:nvSpPr>
        <p:spPr>
          <a:xfrm>
            <a:off x="54540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3"/>
          </p:nvPr>
        </p:nvSpPr>
        <p:spPr>
          <a:xfrm>
            <a:off x="3726720" y="6356520"/>
            <a:ext cx="3449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4"/>
          </p:nvPr>
        </p:nvSpPr>
        <p:spPr>
          <a:xfrm>
            <a:off x="781704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58F6B8F-8934-4110-A99B-EDDE8A19527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45400" y="274680"/>
            <a:ext cx="9812880" cy="113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45400" y="1600200"/>
            <a:ext cx="9812880" cy="452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5"/>
          </p:nvPr>
        </p:nvSpPr>
        <p:spPr>
          <a:xfrm>
            <a:off x="54540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26"/>
          </p:nvPr>
        </p:nvSpPr>
        <p:spPr>
          <a:xfrm>
            <a:off x="3726720" y="6356520"/>
            <a:ext cx="3449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27"/>
          </p:nvPr>
        </p:nvSpPr>
        <p:spPr>
          <a:xfrm>
            <a:off x="781704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78AFD7E-781D-4917-BA86-DF1EBDC1E85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61120" y="4406760"/>
            <a:ext cx="9267480" cy="135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61120" y="2906640"/>
            <a:ext cx="9267480" cy="149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8"/>
          </p:nvPr>
        </p:nvSpPr>
        <p:spPr>
          <a:xfrm>
            <a:off x="54540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9"/>
          </p:nvPr>
        </p:nvSpPr>
        <p:spPr>
          <a:xfrm>
            <a:off x="3726720" y="6356520"/>
            <a:ext cx="3449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30"/>
          </p:nvPr>
        </p:nvSpPr>
        <p:spPr>
          <a:xfrm>
            <a:off x="781704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681D203-2488-4063-8A2A-21F49DD43C9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45400" y="274680"/>
            <a:ext cx="9812880" cy="113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45400" y="1600200"/>
            <a:ext cx="4813200" cy="452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544720" y="1600200"/>
            <a:ext cx="4813200" cy="452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54540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726720" y="6356520"/>
            <a:ext cx="3449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7817040" y="6356520"/>
            <a:ext cx="254124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F49ADB4-8F4D-45BA-8091-56DDAF7F9BA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45400" y="274680"/>
            <a:ext cx="9812880" cy="113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Кино-граф: актёры, фильмы и связи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45400" y="1080000"/>
            <a:ext cx="9812880" cy="452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1920 – 2020 Мировые фильмы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Участники: 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Куранов Леонид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Малых Михаил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Сорокин Даниил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Цветков Даниил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Чесноков Егор.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Команда 22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45400" y="274680"/>
            <a:ext cx="9812880" cy="113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trike="noStrike" u="none">
                <a:solidFill>
                  <a:srgbClr val="111827"/>
                </a:solidFill>
                <a:effectLst/>
                <a:uFillTx/>
                <a:latin typeface="Calibri"/>
              </a:rPr>
              <a:t>Цели проекта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58600" y="875520"/>
            <a:ext cx="9812880" cy="452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Создание структуры данных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Построение графа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Анализ связей актёров и фильмов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Поиск ключевых актёров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45400" y="274680"/>
            <a:ext cx="9812880" cy="113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trike="noStrike" u="none">
                <a:solidFill>
                  <a:srgbClr val="111827"/>
                </a:solidFill>
                <a:effectLst/>
                <a:uFillTx/>
                <a:latin typeface="Calibri"/>
              </a:rPr>
              <a:t>Источник данных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545400" y="1600200"/>
            <a:ext cx="9812880" cy="452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IMDB Top 1000 (CSV): https://www.kaggle.com/datasets/harshitshankhdhar/imdb-dataset-of-top-1000-movies-and-tv-shows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1f2937"/>
                </a:solidFill>
                <a:effectLst/>
                <a:uFillTx/>
                <a:latin typeface="Calibri"/>
              </a:rPr>
              <a:t>Поля: фильм, год, жанр, рейтинг, актёры.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2"/>
          <a:stretch/>
        </p:blipFill>
        <p:spPr>
          <a:xfrm>
            <a:off x="1013760" y="3600000"/>
            <a:ext cx="2945880" cy="274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>
            <a:off x="3240000" y="6120000"/>
            <a:ext cx="287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"/>
              </a:rPr>
              <a:t>QR код на dashboard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2520000" y="6120000"/>
            <a:ext cx="539640" cy="359640"/>
          </a:xfrm>
          <a:prstGeom prst="leftArrow">
            <a:avLst>
              <a:gd name="adj1" fmla="val 50000"/>
              <a:gd name="adj2" fmla="val 375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2"/>
          <a:stretch/>
        </p:blipFill>
        <p:spPr>
          <a:xfrm>
            <a:off x="1260000" y="5742000"/>
            <a:ext cx="1097640" cy="109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20000" y="0"/>
            <a:ext cx="9452880" cy="77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trike="noStrike" u="none">
                <a:solidFill>
                  <a:srgbClr val="fff5ce"/>
                </a:solidFill>
                <a:effectLst/>
                <a:uFillTx/>
                <a:latin typeface="Calibri"/>
              </a:rPr>
              <a:t>Структуры данных</a:t>
            </a:r>
            <a:endParaRPr b="0" lang="ru-RU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2"/>
          <a:stretch/>
        </p:blipFill>
        <p:spPr>
          <a:xfrm>
            <a:off x="180000" y="682920"/>
            <a:ext cx="10439640" cy="597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46760" y="0"/>
            <a:ext cx="9812880" cy="8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trike="noStrike" u="none">
                <a:solidFill>
                  <a:srgbClr val="fff5ce"/>
                </a:solidFill>
                <a:effectLst/>
                <a:uFillTx/>
                <a:latin typeface="Calibri"/>
              </a:rPr>
              <a:t>Визуализация графа</a:t>
            </a:r>
            <a:endParaRPr b="0" lang="ru-RU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360000" y="801720"/>
            <a:ext cx="9544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fff5ce"/>
                </a:solidFill>
                <a:effectLst/>
                <a:uFillTx/>
                <a:latin typeface="Arial"/>
                <a:ea typeface="Microsoft YaHei"/>
              </a:rPr>
              <a:t>Актеры на графе выделены</a:t>
            </a:r>
            <a:r>
              <a:rPr b="0" lang="ru-RU" sz="1800" strike="noStrike" u="none">
                <a:solidFill>
                  <a:srgbClr val="6b5e9b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0" lang="ru-RU" sz="1800" strike="noStrike" u="none">
                <a:solidFill>
                  <a:srgbClr val="2a6099"/>
                </a:solidFill>
                <a:effectLst/>
                <a:uFillTx/>
                <a:latin typeface="Arial"/>
                <a:ea typeface="Microsoft YaHei"/>
              </a:rPr>
              <a:t>синим, </a:t>
            </a:r>
            <a:r>
              <a:rPr b="0" lang="ru-RU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красным</a:t>
            </a:r>
            <a:r>
              <a:rPr b="0" lang="ru-RU" sz="1800" strike="noStrike" u="none">
                <a:solidFill>
                  <a:srgbClr val="fff5ce"/>
                </a:solidFill>
                <a:effectLst/>
                <a:uFillTx/>
                <a:latin typeface="Arial"/>
                <a:ea typeface="Microsoft YaHei"/>
              </a:rPr>
              <a:t> фильмы</a:t>
            </a:r>
            <a:r>
              <a:rPr b="0" lang="ru-RU" sz="1800" strike="noStrike" u="none">
                <a:solidFill>
                  <a:srgbClr val="6b5e9b"/>
                </a:solidFill>
                <a:effectLst/>
                <a:uFillTx/>
                <a:latin typeface="Arial"/>
                <a:ea typeface="Microsoft YaHei"/>
              </a:rPr>
              <a:t>. 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2"/>
          <a:stretch/>
        </p:blipFill>
        <p:spPr>
          <a:xfrm>
            <a:off x="360000" y="1260000"/>
            <a:ext cx="10155600" cy="539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45400" y="180000"/>
            <a:ext cx="9812880" cy="113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600" strike="noStrike" u="none">
                <a:solidFill>
                  <a:srgbClr val="fff5ce"/>
                </a:solidFill>
                <a:effectLst/>
                <a:uFillTx/>
                <a:latin typeface="Arial"/>
              </a:rPr>
              <a:t>Топ — актеры(по числу фильмов)</a:t>
            </a:r>
            <a:endParaRPr b="0" lang="ru-R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073520" y="1440000"/>
            <a:ext cx="90158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2"/>
          <a:stretch/>
        </p:blipFill>
        <p:spPr>
          <a:xfrm>
            <a:off x="263520" y="1630440"/>
            <a:ext cx="10471320" cy="502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"/>
          <p:cNvSpPr/>
          <p:nvPr/>
        </p:nvSpPr>
        <p:spPr>
          <a:xfrm>
            <a:off x="644040" y="1163880"/>
            <a:ext cx="64404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200" strike="noStrike" u="none">
                <a:solidFill>
                  <a:srgbClr val="fff5ce"/>
                </a:solidFill>
                <a:effectLst/>
                <a:uFillTx/>
                <a:latin typeface="Arial"/>
              </a:rPr>
              <a:t>Роберт  Де Ниро снялся в 17 фильмах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2026-01-20T21:25:14Z</dcterms:modified>
  <cp:revision>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